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㈜위브원  |  또와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정육점 특화</a:t>
            </a:r>
          </a:p>
          <a:p>
            <a:pPr algn="l">
              <a:lnSpc>
                <a:spcPct val="110000"/>
              </a:lnSpc>
            </a:pPr>
            <a:r>
              <a:rPr sz="5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Zero-Task AI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토스도, 캐시노트도 못 뚫은 시장. 우리는 정육에서 시작합니다.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14400" y="0"/>
            <a:ext cx="3657600" cy="5394960"/>
          </a:xfrm>
          <a:prstGeom prst="line">
            <a:avLst/>
          </a:prstGeom>
          <a:ln w="19050">
            <a:solidFill>
              <a:srgbClr val="D1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발표: 안동철  ·  대표이사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토스플레이스도, 캐시노트도 — 정육점은 못 뚫었습니다.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0047" cy="137160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69967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자영업 전반엔 빠르게 침투한 거대 SaaS들이,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유독 정육점에서는 점유율이 거의 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10047" cy="137160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1828800"/>
            <a:ext cx="4769967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베타 매장 사장님 전원이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“그런 거 바꿔본 적 없다” (현장 인터뷰).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10180015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질문은 두 가지입니다.</a:t>
            </a:r>
          </a:p>
          <a:p>
            <a:pPr algn="l">
              <a:lnSpc>
                <a:spcPct val="150000"/>
              </a:lnSpc>
            </a:pPr>
            <a:r>
              <a:rPr sz="220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①  왜 아무도 못 뚫었나?</a:t>
            </a:r>
          </a:p>
          <a:p>
            <a:pPr algn="l">
              <a:lnSpc>
                <a:spcPct val="150000"/>
              </a:lnSpc>
            </a:pPr>
            <a:r>
              <a:rPr sz="220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②  그런데 왜 또와는 뚫을 수 있나?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이 덱은 이 두 질문에 답합니다.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WHY NO ONE CRACKED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정육은 다르게 움직이는 시장 — 그래서 범용 SaaS가 못 들어옵니다.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9848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진입 장벽이 높다 = 먼저 들어간 회사에게 시간을 벌어주는 해자.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66751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73152" cy="118872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04288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 시장의 비정형성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669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판매자 협상력이 높고 거래가 비정형적(부분육·가구단위·명절·외상). 범용 POS·CRM의 표준 기능으론 못 담음.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66751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93008"/>
            <a:ext cx="73152" cy="118872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02736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02736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사장님의 보수적 충성도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95928"/>
            <a:ext cx="5669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“잘 되면 안 바꾼다.” 한 번 안착하면 몇 년 그대로. 신규 도구 진입 장벽이 매우 높음.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91456"/>
            <a:ext cx="66751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91456"/>
            <a:ext cx="73152" cy="118872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01184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01184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경쟁사의 구조적 한계 (못 하는 게 아니라 안 함)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94376"/>
            <a:ext cx="5669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토스·캐시노트 ROI는 전 자영업 공통 기능에서 나옴. 식당·카페가 정육의 N배 → 정육 도메인 학습은 영원히 후순위.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0" y="2194560"/>
            <a:ext cx="4144975" cy="36576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286000"/>
            <a:ext cx="3870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↑ Zero-Task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0.0" y="2606040"/>
            <a:ext cx="9570567.5" cy="22860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687775" y="0.0"/>
            <a:ext cx="4038905" cy="4023360.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88575" y="2834640"/>
            <a:ext cx="1371600" cy="73152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 w="19050">
            <a:solidFill>
              <a:srgbClr val="A84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88575" y="2834640"/>
            <a:ext cx="1371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★ 또와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657600"/>
            <a:ext cx="118872" cy="118872"/>
          </a:xfrm>
          <a:prstGeom prst="roundRect">
            <a:avLst>
              <a:gd name="adj" fmla="val 6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61188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토스플레이스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4114800"/>
            <a:ext cx="118872" cy="118872"/>
          </a:xfrm>
          <a:prstGeom prst="roundRect">
            <a:avLst>
              <a:gd name="adj" fmla="val 6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406908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캐시노트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4572000"/>
            <a:ext cx="118872" cy="118872"/>
          </a:xfrm>
          <a:prstGeom prst="roundRect">
            <a:avLst>
              <a:gd name="adj" fmla="val 6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452628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정육점 SYSTEM
대리점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532120"/>
            <a:ext cx="3870655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수평 ───→ 수직(정육)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1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그래서 이 시장은 비어 있습니다. 우리는 정육 도메인 완전 특화로 이 견고한 시장을 뚫습니다.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정육점 매출의 70%는 단골에서. 그런데 사장님은 단골을 잃는 줄도 모릅니다.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45738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단골 정보가 사장님 머릿속에만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299709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파일럿 1매장만 봐도 단골 약 2,100명. 사장님이 이름·패턴을 인지하는 단골은 극소수.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2286000"/>
            <a:ext cx="3545738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7298" y="25603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256032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24612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단골이 떠나기 전 어떤 신호도 알 수 없다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298" y="4023360"/>
            <a:ext cx="299709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방문 주기가 늘어나도, 객단가가 떨어져도 사장님은 모른다. 다른 가게로 옮긴 후에야 알아챈다.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2286000"/>
            <a:ext cx="3545738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1636" y="25603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1636" y="256032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324612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단골을 관리할 여유가 없다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1636" y="4023360"/>
            <a:ext cx="299709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아침부터 저녁까지 장사 준비·손질·응대·마감까지. 체계적으로 고객을 관리할 시간적·비용적 여유가 부족.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DEMAND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“정육점에서 고기 사는데 CRM이 필요한가?” — 정면으로 답합니다.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9848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없는 수요를 만들려는 게 아니라, 이미 존재하지만 도구가 없는 수요를 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6766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정황 근거 (Why we believe)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6766560" cy="65836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68880"/>
            <a:ext cx="3200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468880"/>
            <a:ext cx="406908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2468880"/>
            <a:ext cx="21031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시사점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27248"/>
            <a:ext cx="6766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127248"/>
            <a:ext cx="3200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127248"/>
            <a:ext cx="406908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정육점 매출의 70%가 단골 반복구매 (파일럿)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3127248"/>
            <a:ext cx="21031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단골 = 매출의 본체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85616"/>
            <a:ext cx="6766560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785616"/>
            <a:ext cx="3200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3785616"/>
            <a:ext cx="406908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명절·기념일 매출이 평소의 3~5배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785616"/>
            <a:ext cx="21031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타이밍 마케팅 여지 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43984"/>
            <a:ext cx="6766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443984"/>
            <a:ext cx="3200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4443984"/>
            <a:ext cx="406908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사장님은 이미 단골 챙기려 시도 (전화·외상장부)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4443984"/>
            <a:ext cx="21031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잠재 수요 有, 도구 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02352"/>
            <a:ext cx="6766560" cy="658368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102352"/>
            <a:ext cx="32004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5102352"/>
            <a:ext cx="406908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“단골 알면 매출 다른데 다 못 외운다” (인터뷰)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5102352"/>
            <a:ext cx="21031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의지 有, 물리적 불가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2148840"/>
            <a:ext cx="4053535" cy="379476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377440"/>
            <a:ext cx="3504895" cy="3383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정직한 고백 — 그리고 약속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아직 정량 증거(도입 전/후 매출)는 없습니다. 가장 자주 받는 지적이고, 우리도 압니다.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그래서 이 Pre-Seed는</a:t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‘제품을 만드는 돈’이 아니라
‘수요를 숫자로 증명하는 돈’.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Stage 1(6개월) 단일 미션: 파일럿 매장 도입 전/후 매출로 수요 증명. 실패 시 제품 PIVOT.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532120"/>
            <a:ext cx="35048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“6개월 뒤, 가설이 아니라 숫자를 들고 옵니다.”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사장님은 눈앞의 손님에게 집중하세요. 나머지는 또와가.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023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효과 (제품 가치 가설 — Stage 1 실증 예정)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46304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주 5초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468880"/>
            <a:ext cx="20574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시간 절약 — 단골관리에 쓰는 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46304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−50%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566160"/>
            <a:ext cx="20574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비용 감소 — 마케팅·재고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46304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+15%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663440"/>
            <a:ext cx="20574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매출 증가 — 매장 매출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103120"/>
            <a:ext cx="679673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기능 — 3축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468880"/>
            <a:ext cx="6796735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468880"/>
            <a:ext cx="4572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587752"/>
            <a:ext cx="59737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매장 데이터 기반 단골 관리 (Wedge)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971800"/>
            <a:ext cx="597377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POS 거래 → 단골 자동 분류·메시지·발송·재방문 추적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566160"/>
            <a:ext cx="6796735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566160"/>
            <a:ext cx="4572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685032"/>
            <a:ext cx="59737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재고량 분석 CRM 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069080"/>
            <a:ext cx="597377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과재고 부위 자동 마케팅 · 신선도 기반 추천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663440"/>
            <a:ext cx="6796735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663440"/>
            <a:ext cx="45720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782312"/>
            <a:ext cx="59737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판매량 예측 기반 발주 제안·자동화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5166360"/>
            <a:ext cx="597377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단골 패턴 + 명절·계절 변수 → 발주량 자동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* 효과 수치는 제품 가치 가설 — 실증 데이터 없음, 베타 30매장에서 측정 예정.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PRODUCT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또와가 일하는 모습 (제품 컨셉)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9848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사장님은 눈앞의 손님에게만 집중. 또와가 동시에 단골·재고·이탈을 챙깁니다.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7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90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943600" cy="3931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[ 컨셉 이미지 영역 ]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사장님이 손님 응대 중 + 반투명 고스트 3마리가 동시에 일하는 컷</a:t>
            </a:r>
          </a:p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spec: assets/slide5_concept_image_prompt.md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87649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1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0" y="239572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395728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304288"/>
            <a:ext cx="3962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“정육왕 고객님! 보낸 문자 보고 찾아주셨군요!”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063240"/>
            <a:ext cx="39620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단골관리 · 재방문 유도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566160"/>
            <a:ext cx="487649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1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376732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767328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675888"/>
            <a:ext cx="3962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“사장님, 목살 재고가 많아요! 지금 프로모션 돌릴게요!”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434840"/>
            <a:ext cx="39620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재고 분석 · 자동 마케팅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937760"/>
            <a:ext cx="487649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1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513892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5138928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5047488"/>
            <a:ext cx="3962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“오늘 기준 이탈 고객 N명 예상돼요. 쿠폰 보낼까요?”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5806440"/>
            <a:ext cx="39620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이탈 예측 · 자동 대응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FEATURES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주요 기능 &amp; 데이터 수집·동의 메커니즘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A. 주요 기능 — 고객에게 제공하는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73152" cy="96012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이탈 예측 · 고객 분석 · 개인화 마케팅 · 재방문 유도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10128"/>
            <a:ext cx="73152" cy="96012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47288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판매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13048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매출 분석 · 마진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79976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79976"/>
            <a:ext cx="73152" cy="96012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17136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재고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82896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재고 예측 · 자동 발주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828800"/>
            <a:ext cx="5973775" cy="420624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011680"/>
            <a:ext cx="542513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B. 데이터를 어떻게 모으나 — 동의 &amp; 수집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377440"/>
            <a:ext cx="542513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“고객이 그냥 사가는데 동의를 어떻게?” — 핵심 운영 질문에 답합니다.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743200"/>
            <a:ext cx="5425135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동의 수집 흐름 (사장님 손 = 0)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1. POS 결제 시 단골 적립·멤버십 유도 (적립 흐름에 개인정보 활용 동의 1회 포함)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2. 동의 고객만 단골 DB 적재 — 옵트인 (개인정보보호법 준수)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3. 알림톡도 수신 동의 채널만 (정보통신망법 준수)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434840"/>
            <a:ext cx="5425135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무슨 데이터를, 어떻게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거래(POS): 부분육·금액·일시 — 자동 수집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고객: 전화번호·재방문 — 동의 고객만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파생: 방문 주기·객단가·선호 부위 — 자동 산출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데이터 품질 = 동의율 × POS 연동률. Stage 1에서 동의 전환율도 핵심 측정 지표.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도메인 특화 AI 에이전트의 시대. 소상공인 자리는 아직 비어있습니다.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9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45738" cy="7315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99709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AI 활용 비용이 1/10 이하로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2997098" cy="123444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LLM API 비용이 3년 사이 폭락. 매장 월 몇 만원으로도 풀스택 AI 운영 가능한 첫 시점.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210312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978" y="2103120"/>
            <a:ext cx="3545738" cy="7315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2377440"/>
            <a:ext cx="299709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297180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도메인 특화 AI 에이전트 등장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298" y="3794760"/>
            <a:ext cx="2997098" cy="123444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법률(Harvey), 의료(Hippocratic AI), 영업(11x) — 수직 도메인에서 한 업무를 완전 자동화하는 AI가 글로벌 등장.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210312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7316" y="2103120"/>
            <a:ext cx="3545738" cy="7315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1636" y="2377440"/>
            <a:ext cx="299709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297180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그런데 소상공인 버티컬은 비어있음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1636" y="3794760"/>
            <a:ext cx="2997098" cy="123444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전문직·테크엔 도메인 AI가 빠르게 들어왔지만, 동네 자영업은 아직 0개사. 또와가 정육에서 시작.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11094415" cy="5029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1094415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매크로 순풍 — 한국 1인당 정육 소비 54.6→62.9kg (5년 +15%)  ·  정부 소상공인 디지털 전환 바우처 연 수천억원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 → 식품 소매·외식 → 재방문 B2C 소상공인 전체.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10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90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96661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9666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재방문 기반 B2C 소상공인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9666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약 300만 업체 / 7조원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0116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FAD9CB"/>
          </a:solidFill>
          <a:ln w="19050">
            <a:solidFill>
              <a:srgbClr val="E89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194560"/>
            <a:ext cx="296661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2651760"/>
            <a:ext cx="29666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식품 관련 소매·외식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926080"/>
            <a:ext cx="29666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약 90만 개 / 1조원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0116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 w="19050">
            <a:solidFill>
              <a:srgbClr val="A84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2116" y="2194560"/>
            <a:ext cx="296661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2116" y="2651760"/>
            <a:ext cx="29666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정육점 (첫 진입 시장)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926080"/>
            <a:ext cx="29666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약 57,000개소 / 2,200억원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Capturable SOM — 시간별 점유율 (벤치마크 기반)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9319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393192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점유율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393192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매장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3931920"/>
            <a:ext cx="405353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글로벌 벤치마크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3891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18m (Series 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438912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438912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약 1,700매장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4389120"/>
            <a:ext cx="405353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Pre-Series A SaaS 침투율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846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5년 (안착)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484632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484632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약 5,700매장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2" y="4846320"/>
            <a:ext cx="405353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Shopify · Toast 수준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3035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10년 (리더)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9232" y="530352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530352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약 11,400매장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2" y="5303520"/>
            <a:ext cx="405353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Square · Mindbody 수준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* Square이 미국 SMB POS에서 했던 일을, 또와는 한국 정육 카테고리에서 — Wedge → 운영 OS → 유통.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BUSINESS MODEL — STAGED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CRM으로 침투해 유통으로 — 단계적으로 둘 다, 단 순서가 명확합니다.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217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단계적 전략 — 지금 라운드가 어디인지 명확히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6217920" cy="4572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48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214884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1단계 (지금 — Pre-Seed)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488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2단계 (Series A 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6217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60604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정체성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60604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정육 마케팅·CRM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6060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정육 유통 중개 플랫폼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63240"/>
            <a:ext cx="621792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06324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수익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306324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구독 + 문자 + 마케팅 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0632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유통 매입·중개 수수료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6217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파는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352044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소프트웨어만 (HW 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35204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유통·물류 (검증 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77640"/>
            <a:ext cx="621792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97764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검증 미션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3392" y="3977640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수요·공헌이익 양수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9776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유통 GMV·중개 마진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6217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1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지금은 1단계. 저울·납품·물류는 수요 증명 후 2단계에서. 지금 팀이 감당 못 할 일을 약속하지 않습니다.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6217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수익 구조 (1단계)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21808"/>
            <a:ext cx="6217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321808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Basic 구독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33472" y="5321808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₩33,000/월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5321808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GM 75~80%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14416"/>
            <a:ext cx="6217920" cy="292608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614416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문자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5614416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₩33/건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5614416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LTV/CAC 5배+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07024"/>
            <a:ext cx="6217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907024"/>
            <a:ext cx="19202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매장 ARPU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33472" y="5907024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₩8~12만/월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6592" y="5907024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월 이탈 3%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1828800"/>
            <a:ext cx="4602175" cy="429768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011680"/>
            <a:ext cx="4053535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점주 수익 영향</a:t>
            </a:r>
          </a:p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구독료 33,000원은 회수되는가? (가정 기반 시뮬레이션)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834640"/>
            <a:ext cx="277337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정육 객단가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2815" y="283464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약 25,000원</a:t>
            </a:r>
          </a:p>
        </p:txBody>
      </p:sp>
      <p:cxnSp>
        <p:nvCxnSpPr>
          <p:cNvPr id="46" name="Connector 45"/>
          <p:cNvCxnSpPr/>
          <p:nvPr/>
        </p:nvCxnSpPr>
        <p:spPr>
          <a:xfrm flipH="1" flipV="1">
            <a:off x="4053535" y="0"/>
            <a:ext cx="3261665" cy="3291840"/>
          </a:xfrm>
          <a:prstGeom prst="line">
            <a:avLst/>
          </a:prstGeom>
          <a:ln w="635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15200" y="3291840"/>
            <a:ext cx="277337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정육 마진율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2815" y="329184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약 25%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4053535" y="0"/>
            <a:ext cx="3261665" cy="3749040"/>
          </a:xfrm>
          <a:prstGeom prst="line">
            <a:avLst/>
          </a:prstGeom>
          <a:ln w="635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315200" y="3749040"/>
            <a:ext cx="277337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회당 마진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2815" y="374904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6,250원</a:t>
            </a:r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4053535" y="0"/>
            <a:ext cx="3261665" cy="4206240"/>
          </a:xfrm>
          <a:prstGeom prst="line">
            <a:avLst/>
          </a:prstGeom>
          <a:ln w="635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00" y="4206240"/>
            <a:ext cx="277337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구독료 회수점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2815" y="420624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단골 5~6명/월</a:t>
            </a:r>
          </a:p>
        </p:txBody>
      </p:sp>
      <p:cxnSp>
        <p:nvCxnSpPr>
          <p:cNvPr id="55" name="Connector 54"/>
          <p:cNvCxnSpPr/>
          <p:nvPr/>
        </p:nvCxnSpPr>
        <p:spPr>
          <a:xfrm flipH="1" flipV="1">
            <a:off x="4053535" y="0"/>
            <a:ext cx="3261665" cy="4663440"/>
          </a:xfrm>
          <a:prstGeom prst="line">
            <a:avLst/>
          </a:prstGeom>
          <a:ln w="635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315200" y="4663440"/>
            <a:ext cx="277337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파일럿 단골 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22815" y="4663440"/>
            <a:ext cx="1645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2,100명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5212080"/>
            <a:ext cx="405353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단골 5~6명 재방문만 추가돼도 구독료 회수. 그 이상은 전부 점주 순증. (Stage 1 실측)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TRACTION — 수요 검증 라운드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파일럿 1매장에서 Zero-Task 워크플로 가동 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15258" cy="128016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515258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약 5만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51525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누적 거래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28800"/>
            <a:ext cx="3515258" cy="128016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8218" y="2011680"/>
            <a:ext cx="3515258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약 2,100명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2651760"/>
            <a:ext cx="351525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누적 단골 (5회+)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28800"/>
            <a:ext cx="3515258" cy="128016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2011680"/>
            <a:ext cx="3515258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1매장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651760"/>
            <a:ext cx="351525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파일럿 운영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[!] 아직 측정되지 않은 것 — 정직 공개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49377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도입 전/후 매장 매출 차이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알림 → 재방문 정량 효과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잔존율·재방문 주기 단축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+15% / −50% 실증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40"/>
            <a:ext cx="5333695" cy="18288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4785055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이 Pre-Seed의 본질 = 수요 검증 라운드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“제품을 더 만들겠다”가 아니라 “위 빈칸을 숫자로 채우겠다.”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제품은 이미 돌아갑니다(파일럿). 증명 안 된 건 수요뿐 — 그게 정확히 이 돈의 목적.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협력사: ㈜더담우 (연 매출 1,000억 정육 유통사) · 5개 점포 영업망 협력 합의 (도입 시작 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VALIDATION TO-DO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Pre-Seed 5억 = 가설 검증 → PMF → 공헌이익 양수화. Series A는 그 다음.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36443" cy="9144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636443" cy="36575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7068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227068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가설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227068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+0~6m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2270683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Q1 도입 전/후 매출
Q2 알림→재방문 전환
Q3 이탈군 잔존율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983479"/>
            <a:ext cx="2362123" cy="7315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83479"/>
            <a:ext cx="2179243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통과 → Stage 2
실패 → 제품 PIVOT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7963" y="2103120"/>
            <a:ext cx="2636443" cy="91440"/>
          </a:xfrm>
          <a:prstGeom prst="rect">
            <a:avLst/>
          </a:prstGeom>
          <a:solidFill>
            <a:srgbClr val="A84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7963" y="2194560"/>
            <a:ext cx="2636443" cy="36575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0843" y="2331720"/>
            <a:ext cx="227068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843" y="2670048"/>
            <a:ext cx="227068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PMF 찾기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0843" y="3127248"/>
            <a:ext cx="227068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+6~12m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843" y="3474720"/>
            <a:ext cx="2270683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Q4 N=30 효과 재현
Q5 유료 전환율
Q6 문자 발송량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5123" y="4983479"/>
            <a:ext cx="2362123" cy="7315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6563" y="4983479"/>
            <a:ext cx="2179243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통과 → Stage 3
실패 → 가격·세그먼트
     재설계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287" y="2103120"/>
            <a:ext cx="2636443" cy="914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87287" y="2194560"/>
            <a:ext cx="2636443" cy="36575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167" y="2331720"/>
            <a:ext cx="227068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32F3E"/>
                </a:solidFill>
                <a:latin typeface="Noto Sans KR"/>
                <a:ea typeface="Noto Sans KR"/>
                <a:cs typeface="Noto Sans KR"/>
              </a:rPr>
              <a:t>Stage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70048"/>
            <a:ext cx="227068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공헌이익 양수화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3127248"/>
            <a:ext cx="227068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+12~18m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3474720"/>
            <a:ext cx="2270683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Q7 더담우 영업 효율
Q8 직판 CAC
Q9 POS 수락율
Q10 ARPU
Q11 이탈·LTV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7" y="4983479"/>
            <a:ext cx="2362123" cy="7315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4983479"/>
            <a:ext cx="2179243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통과 → Series A 도전
실패 → 브릿지 라운드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611" y="2103120"/>
            <a:ext cx="2636443" cy="9144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06611" y="2194560"/>
            <a:ext cx="2636443" cy="36575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491" y="2331720"/>
            <a:ext cx="227068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491" y="2670048"/>
            <a:ext cx="227068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시장 확장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491" y="3127248"/>
            <a:ext cx="227068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Series A 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491" y="3474720"/>
            <a:ext cx="2270683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Q12 유통 중개 +
인접 카테고리 PoC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3771" y="4983479"/>
            <a:ext cx="2362123" cy="7315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211" y="4983479"/>
            <a:ext cx="2179243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(Pre-Seed 범위 외)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의사결정 게이트 — +6m: Stage 1 → 베타 가속 · +12m: Stage 2 → 유료 GTM · +18m: Stage 3 → Series 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TEAM — 왜 이 팀이 1단계를 해내는가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B2B SaaS + AI 박사 + 정육 도메인 — 한 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109155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6017" y="22860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안동철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39312"/>
            <a:ext cx="210915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대표이사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192627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한밭대 컴공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926275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㈜스낵포 CTO 8년
B2B SaaS 0→1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2011680"/>
            <a:ext cx="2109155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2332" y="22860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4955" y="329184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배현혜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4955" y="3639312"/>
            <a:ext cx="210915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AI·데이터 총괄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6395" y="3950208"/>
            <a:ext cx="192627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Columbia 박사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6395" y="4297680"/>
            <a:ext cx="1926275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빅데이터 전임연구원
㈜팬블러 창업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1270" y="2011680"/>
            <a:ext cx="2109155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38647" y="22860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1270" y="329184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SEO CHARLES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1270" y="3639312"/>
            <a:ext cx="210915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제품·UX 총괄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2710" y="3950208"/>
            <a:ext cx="192627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KAIST 학·석사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2710" y="4297680"/>
            <a:ext cx="1926275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㈜팬블러
Co-Founder/PO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7585" y="2011680"/>
            <a:ext cx="2109155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84962" y="22860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585" y="329184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이지백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585" y="3639312"/>
            <a:ext cx="210915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현장·도메인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025" y="3950208"/>
            <a:ext cx="192627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충남대 경영 박사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025" y="4297680"/>
            <a:ext cx="1926275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정육 유통사
사외이사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3900" y="2011680"/>
            <a:ext cx="2109155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31277" y="22860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3900" y="329184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박동일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3900" y="3639312"/>
            <a:ext cx="210915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운영·재무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5340" y="3950208"/>
            <a:ext cx="192627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한밭대 회계학사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5340" y="4297680"/>
            <a:ext cx="1926275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1208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Founder-Market Fit — B2B SaaS 실행력 + AI 박사급 + 정육 도메인 네트워크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1단계(CRM SaaS)는 정확히 이 팀의 코어 역량. 2단계(유통)는 ㈜더담우(연 1,000억)와의 동맹으로 보완 — 하드웨어·물류를 처음부터 다 하지 않습니다.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1단계: 정육 CRM SaaS → 2단계: 유통 중개 (Series A 후).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15 / 17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48640" y="0"/>
            <a:ext cx="10545775" cy="2743200"/>
          </a:xfrm>
          <a:prstGeom prst="line">
            <a:avLst/>
          </a:prstGeom>
          <a:ln w="31750">
            <a:solidFill>
              <a:srgbClr val="D1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" y="2628900"/>
            <a:ext cx="228600" cy="228600"/>
          </a:xfrm>
          <a:prstGeom prst="roundRect">
            <a:avLst>
              <a:gd name="adj" fmla="val 6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365760" y="2240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548640" y="29260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파일럿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7943" y="2628900"/>
            <a:ext cx="228600" cy="228600"/>
          </a:xfrm>
          <a:prstGeom prst="roundRect">
            <a:avLst>
              <a:gd name="adj" fmla="val 6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7843" y="2240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+6m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4963" y="29260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베타 N=30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7843" y="3310128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1547" y="2628900"/>
            <a:ext cx="228600" cy="228600"/>
          </a:xfrm>
          <a:prstGeom prst="roundRect">
            <a:avLst>
              <a:gd name="adj" fmla="val 6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1447" y="2240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+12m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8567" y="29260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유료 100~150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3310128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5151" y="2628900"/>
            <a:ext cx="228600" cy="228600"/>
          </a:xfrm>
          <a:prstGeom prst="roundRect">
            <a:avLst>
              <a:gd name="adj" fmla="val 6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051" y="2240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+18m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171" y="29260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공헌이익 양수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051" y="3310128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28755" y="2628900"/>
            <a:ext cx="228600" cy="228600"/>
          </a:xfrm>
          <a:prstGeom prst="roundRect">
            <a:avLst>
              <a:gd name="adj" fmla="val 6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2240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Series A 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5775" y="29260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유통 중개+확장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3310128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31920"/>
            <a:ext cx="8046720" cy="411480"/>
          </a:xfrm>
          <a:prstGeom prst="roundRect">
            <a:avLst>
              <a:gd name="adj" fmla="val 6000"/>
            </a:avLst>
          </a:prstGeom>
          <a:solidFill>
            <a:srgbClr val="FAD9CB"/>
          </a:solidFill>
          <a:ln w="12700">
            <a:solidFill>
              <a:srgbClr val="D1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76809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1단계: 정육 CRM SaaS (지금 라운드)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3931920"/>
            <a:ext cx="2864815" cy="41148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931920"/>
            <a:ext cx="2864815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2단계: 유통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Pre-Seed 5억(희석) + 정부 R&amp;D 7억(비희석, 디딤돌+TIPS+후속)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120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Series A 진입 조건 (+18m)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532120"/>
            <a:ext cx="2127443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532120"/>
            <a:ext cx="2127443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공헌이익 양수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13243" y="5532120"/>
            <a:ext cx="2127443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3243" y="5532120"/>
            <a:ext cx="2127443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유료 매장 100~150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2126" y="5532120"/>
            <a:ext cx="2127443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32126" y="5532120"/>
            <a:ext cx="2127443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LTV/CAC 3~5배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51009" y="5532120"/>
            <a:ext cx="2127443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009" y="5532120"/>
            <a:ext cx="2127443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월 이탈율 &lt;5%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9892" y="5532120"/>
            <a:ext cx="2127443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9892" y="5532120"/>
            <a:ext cx="2127443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더담우 + POS사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34747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"/>
            <a:ext cx="1091153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Pre-Seed 5억 + R&amp;D 7억 — 18개월, 수요 증명 → 공헌이익 양수까지.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0047" cy="1371600"/>
          </a:xfrm>
          <a:prstGeom prst="roundRect">
            <a:avLst>
              <a:gd name="adj" fmla="val 6000"/>
            </a:avLst>
          </a:prstGeom>
          <a:solidFill>
            <a:srgbClr val="D15127"/>
          </a:solidFill>
          <a:ln w="19050">
            <a:solidFill>
              <a:srgbClr val="A84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785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Pre-Seed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678527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5억  (희석)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828800"/>
            <a:ext cx="5410047" cy="13716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011680"/>
            <a:ext cx="46785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정부 R&amp;D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377440"/>
            <a:ext cx="4678527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7억  (비희석)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880360"/>
            <a:ext cx="4678527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FAD9CB"/>
                </a:solidFill>
                <a:latin typeface="Noto Sans KR"/>
                <a:ea typeface="Noto Sans KR"/>
                <a:cs typeface="Noto Sans KR"/>
              </a:rPr>
              <a:t>디딤돌 2.668억 확보 + TIPS·후속 가설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자금 사용 계획 — 총 12억 통합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1094415" cy="3840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703320"/>
            <a:ext cx="2194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703320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금액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3703320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3703320"/>
            <a:ext cx="597377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용도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87368"/>
            <a:ext cx="1109441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087368"/>
            <a:ext cx="2194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인력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4087368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5.0억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4087368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42%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4087368"/>
            <a:ext cx="597377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영업·운영 + R&amp;D·개발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71416"/>
            <a:ext cx="11094415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471416"/>
            <a:ext cx="2194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마케팅·영업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4471416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3.0억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4471416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4471416"/>
            <a:ext cx="597377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GTM · 정육 협회 · 바우처 채널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55464"/>
            <a:ext cx="1109441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855464"/>
            <a:ext cx="2194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제품 개발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4855464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3.0억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4855464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2" y="4855464"/>
            <a:ext cx="597377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AI 모델 · POS 연동 · SaaS화 (R&amp;D 자금)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39512"/>
            <a:ext cx="11094415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239512"/>
            <a:ext cx="2194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기타 운영비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07792" y="5239512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1.0억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5239512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0992" y="5239512"/>
            <a:ext cx="597377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사무실 · 법무 · 회계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623560"/>
            <a:ext cx="11094415" cy="384048"/>
          </a:xfrm>
          <a:prstGeom prst="rect">
            <a:avLst/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5623560"/>
            <a:ext cx="2194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7792" y="5623560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12.0억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9392" y="5623560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0992" y="5623560"/>
            <a:ext cx="597377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18개월 Runway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806440"/>
            <a:ext cx="10545775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1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CRM×SaaS 펀딩 비우호 환경 → 비희석 R&amp;D 7억 + 공헌이익 양수 목표. “돈을 태우는 회사가 아니라 효율로 증명하는 회사.”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기술 발전의 혜택에서 소외된</a:t>
            </a:r>
          </a:p>
          <a:p>
            <a:pPr algn="l">
              <a:lnSpc>
                <a:spcPct val="140000"/>
              </a:lnSpc>
            </a:pPr>
            <a:r>
              <a:rPr sz="29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소상공인의 도메인에 깊숙이 파고들어</a:t>
            </a:r>
          </a:p>
          <a:p>
            <a:pPr algn="l">
              <a:lnSpc>
                <a:spcPct val="140000"/>
              </a:lnSpc>
            </a:pPr>
            <a:r>
              <a:rPr sz="29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기술과의 거리감을 줄이는 비즈니스를 하겠습니다.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— 정육점은 그 시작입니다.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09160"/>
            <a:ext cx="3322320" cy="100584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18888"/>
            <a:ext cx="2956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93208"/>
            <a:ext cx="29565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 Zero-Task 운영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22392"/>
            <a:ext cx="2956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CRM·마케팅·재고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1040" y="4709160"/>
            <a:ext cx="3322320" cy="100584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3920" y="4818888"/>
            <a:ext cx="2956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3920" y="5093208"/>
            <a:ext cx="29565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 유통 중개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3920" y="5422392"/>
            <a:ext cx="2956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납품·물류 디지털화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680" y="4709160"/>
            <a:ext cx="3322320" cy="1005840"/>
          </a:xfrm>
          <a:prstGeom prst="roundRect">
            <a:avLst>
              <a:gd name="adj" fmla="val 6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4818888"/>
            <a:ext cx="2956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5093208"/>
            <a:ext cx="29565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인접 수직 카테고리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5422392"/>
            <a:ext cx="2956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AI 직원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㈜위브원  ·  또와  ·  안동철 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