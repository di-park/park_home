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㈜위브원  |  또와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0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정육점 특화</a:t>
            </a:r>
          </a:p>
          <a:p>
            <a:pPr algn="l">
              <a:lnSpc>
                <a:spcPct val="110000"/>
              </a:lnSpc>
            </a:pPr>
            <a:r>
              <a:rPr sz="5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Zero-Task AI 에이전트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단골부터 마진까지, 알아서 다 챙기는 막내 직원.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14400" y="0"/>
            <a:ext cx="3657600" cy="5486400"/>
          </a:xfrm>
          <a:prstGeom prst="line">
            <a:avLst/>
          </a:prstGeom>
          <a:ln w="19050">
            <a:solidFill>
              <a:srgbClr val="D1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5577840"/>
            <a:ext cx="73152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발표: 안동철  ·  대표이사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ONE-LINER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또와는 고객관리부터 마케팅·재고 관리·발주까지 스스로 하는,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정육점 사장님의 첫 AI 직원입니다.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3515258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0분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3515258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단골 챙기는 시간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6032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8218" y="2834640"/>
            <a:ext cx="3515258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8218" y="3749040"/>
            <a:ext cx="3515258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메시지 쓰는 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256032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7796" y="2834640"/>
            <a:ext cx="3515258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232F3E"/>
                </a:solidFill>
                <a:latin typeface="Noto Sans KR"/>
                <a:ea typeface="Noto Sans KR"/>
                <a:cs typeface="Noto Sans KR"/>
              </a:rPr>
              <a:t>주 5초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3749040"/>
            <a:ext cx="3515258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사장님이 남기는 시간
(리포트 확인)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단골관리에서 시작해 마진·발주까지 — 또와가 매장 운영을 알아서 챙깁니다.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정육점 매출의 70%는 단골에서. 그런데 사장님은 단골을 잃는 줄도 모릅니다.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54573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299709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단골 정보가 사장님 머릿속에만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299709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파일럿 1매장만 봐도 단골 약 2,100명.
사장님이 이름·패턴을 인지하는 단골은 극소수.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978" y="2377440"/>
            <a:ext cx="354573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7298" y="2651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7298" y="265176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246120"/>
            <a:ext cx="299709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단골이 떠나기 전 어떠한 신호도 알 수 없다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298" y="3931920"/>
            <a:ext cx="299709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방문 주기가 늘어나도, 객단가가 떨어져도 사장님은 모른다.
다른 가게로 옮긴 후에야 알아챈다.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2377440"/>
            <a:ext cx="354573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71636" y="26517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1636" y="265176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1636" y="3246120"/>
            <a:ext cx="299709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단골을 관리할 수 있는 여유가 없다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1636" y="3931920"/>
            <a:ext cx="299709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아침부터 저녁까지 장사 준비·손질·응대·마감까지 다 해야 하는 사장님에겐, 체계적으로 고객을 관리할 시간적·비용적 여유가 부족.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사장님은 눈앞의 손님에게 집중하세요.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나머지는 또와가 알아서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효과 (제품 가치 가설)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371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주 5초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68880"/>
            <a:ext cx="21945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시간 절약 — 사장님이 단골관리에 쓰는 시간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371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−50%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20440"/>
            <a:ext cx="21945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비용 감소 — 마케팅·재고 비용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720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1371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+15%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572000"/>
            <a:ext cx="21945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매출 증가 — 매장 매출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103120"/>
            <a:ext cx="670529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기능 — 3축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2468880"/>
            <a:ext cx="670529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468880"/>
            <a:ext cx="457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560320"/>
            <a:ext cx="59737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매장 데이터 기반 단골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880360"/>
            <a:ext cx="597377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POS 거래 → 단골 자동 분류 · 메시지 발송 · 재방문 추적 (Wedge)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3520440"/>
            <a:ext cx="670529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3520440"/>
            <a:ext cx="457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611880"/>
            <a:ext cx="59737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재고량 분석 CRM 활동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931920"/>
            <a:ext cx="597377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과재고 부위 자동 마케팅 · 신선도 기반 추천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4572000"/>
            <a:ext cx="670529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572000"/>
            <a:ext cx="457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4663440"/>
            <a:ext cx="59737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판매량 예측 기반 발주 제안·자동화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983480"/>
            <a:ext cx="597377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단골 패턴 + 명절·계절 변수 → 발주량 자동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* 효과 수치는 제품 가치 가설 — 실증 데이터 없음, 베타 30매장에서 측정 예정.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PRODUCT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또와가 일하는 모습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사장님은 눈앞의 손님에게만 집중. 또와가 동시에 단골·재고·이탈을 챙깁니다.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943600" cy="402336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90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5943600" cy="4023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[ 컨셉 이미지 영역 ]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정육점 사장님이 손님 응대 중 +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반투명 고스트 3마리가 동시에 일하는 컷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이미지 spec: assets/slide5_concept_image_prompt.md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194560"/>
            <a:ext cx="4876495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1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0" y="23774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3774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286000"/>
            <a:ext cx="396209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“정육왕 고객님! 보낸 문자 보고 찾아주셨군요! 감사해요!”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063240"/>
            <a:ext cx="39620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→ 단골관리 · 재방문 유도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566160"/>
            <a:ext cx="4876495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1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0" y="37490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7490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657600"/>
            <a:ext cx="396209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“엇! 사장님, 목살 재고가 평소보다 많아요! 지금 프로모션 돌릴게요!”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434840"/>
            <a:ext cx="39620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→ 재고 분석 · 자동 마케팅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4937760"/>
            <a:ext cx="4876495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1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9440" y="51206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51206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5029200"/>
            <a:ext cx="396209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“사장님! 오늘 기준 이탈 고객 N명이 예상되는데요. 쿠폰 보내볼까요?”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5806440"/>
            <a:ext cx="39620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→ 이탈 예측 · 자동 대응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도메인 특화 AI 에이전트의 시대. 소상공인 자리는 아직 비어있습니다.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3545738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545738" cy="7315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99709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299709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AI 활용 비용이 1/10 이하로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2997098" cy="123444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LLM API 비용이 3년 사이 폭락. 매장 월 몇 만원으로도 풀스택 AI 운영 가능한 첫 시점.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978" y="2194560"/>
            <a:ext cx="3545738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2978" y="2194560"/>
            <a:ext cx="3545738" cy="7315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7298" y="2468880"/>
            <a:ext cx="299709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063240"/>
            <a:ext cx="299709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도메인 특화 AI 에이전트가 등장 시작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7298" y="3886200"/>
            <a:ext cx="2997098" cy="123444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법률(Harvey), 의료(Hippocratic AI), 영업(11x) — 수직 도메인에서 한 업무를 완전 자동화하는 AI들이 글로벌 시장에 등장.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2194560"/>
            <a:ext cx="3545738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7316" y="2194560"/>
            <a:ext cx="3545738" cy="73152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1636" y="2468880"/>
            <a:ext cx="299709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1636" y="3063240"/>
            <a:ext cx="2997098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그런데 소상공인 버티컬은 비어있음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1636" y="3886200"/>
            <a:ext cx="2997098" cy="123444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전문직·테크 도메인엔 도메인 AI가 빠르게 들어왔지만, 동네 자영업 도메인은 아직 0개사. 또와가 정육에서 시작.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532120"/>
            <a:ext cx="11094415" cy="50292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1094415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매크로 순풍 — 한국 1인당 정육 소비 54.6→62.9kg (5년 +15%)  ·  정부 소상공인 디지털 전환 바우처 연 수천억원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정육 → 식품 소매·외식 → 재방문 B2C 소상공인 전체.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7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90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96661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296661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재방문 기반 B2C 소상공인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9666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약 300만 업체 / 7조원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10312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FAD9CB"/>
          </a:solidFill>
          <a:ln w="19050">
            <a:solidFill>
              <a:srgbClr val="E894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286000"/>
            <a:ext cx="296661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538" y="2743200"/>
            <a:ext cx="296661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식품 관련 소매·외식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3017520"/>
            <a:ext cx="29666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약 90만 개 / 1조원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210312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D15127"/>
          </a:solidFill>
          <a:ln w="19050">
            <a:solidFill>
              <a:srgbClr val="A84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2116" y="2286000"/>
            <a:ext cx="296661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2116" y="2743200"/>
            <a:ext cx="296661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정육점 (첫 진입 시장)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3017520"/>
            <a:ext cx="29666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약 57,000개소 / 2,200억원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5760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Capturable SOM — 시간별 점유율 (벤치마크 기반)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84048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점유율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84048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매장 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840480"/>
            <a:ext cx="377921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글로벌 벤치마크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29768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18m (Series 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29768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29768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약 1,700매장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97680"/>
            <a:ext cx="377921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Pre-Series A SaaS 침투율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75488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5년 (안착)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75488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75488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약 5,700매장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754880"/>
            <a:ext cx="377921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Shopify · Toast 수준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21208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10년 (리더)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21208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521208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약 11,400매장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212080"/>
            <a:ext cx="377921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Square · Mindbody 수준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* Square이 미국 SMB POS에서 했던 일을, 또와는 한국 정육 카테고리에서 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수직 × Zero-Task — 비어 있는 자리.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↑ Zero-Task (사장님 손 =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15000"/>
            <a:ext cx="5120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수평 (전 자영업)             ⟶             수직 (정육 특화)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0.0" y="2560320"/>
            <a:ext cx="3200400.0" cy="45720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22960" y="0.0"/>
            <a:ext cx="3931920" cy="4069080.0"/>
          </a:xfrm>
          <a:prstGeom prst="line">
            <a:avLst/>
          </a:prstGeom>
          <a:ln w="6350">
            <a:solidFill>
              <a:srgbClr val="B3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31920" y="2926080"/>
            <a:ext cx="1463040" cy="822960"/>
          </a:xfrm>
          <a:prstGeom prst="roundRect">
            <a:avLst>
              <a:gd name="adj" fmla="val 8000"/>
            </a:avLst>
          </a:prstGeom>
          <a:solidFill>
            <a:srgbClr val="D15127"/>
          </a:solidFill>
          <a:ln w="19050">
            <a:solidFill>
              <a:srgbClr val="A84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926080"/>
            <a:ext cx="14630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★ 또와</a:t>
            </a:r>
          </a:p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정육 × Zero-Task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749040"/>
            <a:ext cx="137160" cy="137160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3712464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토스플레이스 CRM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4297680"/>
            <a:ext cx="137160" cy="137160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261104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캐시노트 CRM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40" y="4846320"/>
            <a:ext cx="137160" cy="137160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0208" y="4809744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정육점 SYSTEM 대리점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03120"/>
            <a:ext cx="5516575" cy="4572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103120"/>
            <a:ext cx="1828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2103120"/>
            <a:ext cx="20116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산업 내 포지션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103120"/>
            <a:ext cx="822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정육 특화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2103120"/>
            <a:ext cx="85313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자동화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560320"/>
            <a:ext cx="5516575" cy="640080"/>
          </a:xfrm>
          <a:prstGeom prst="rect">
            <a:avLst/>
          </a:prstGeom>
          <a:solidFill>
            <a:srgbClr val="FFF7F2"/>
          </a:solidFill>
          <a:ln w="63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560320"/>
            <a:ext cx="17373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또와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56032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시작 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560320"/>
            <a:ext cx="8229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Noto Sans KR"/>
                <a:ea typeface="Noto Sans KR"/>
                <a:cs typeface="Noto Sans KR"/>
              </a:rPr>
              <a:t>[O]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2560320"/>
            <a:ext cx="853135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Noto Sans KR"/>
                <a:ea typeface="Noto Sans KR"/>
                <a:cs typeface="Noto Sans KR"/>
              </a:rPr>
              <a:t>[O]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200400"/>
            <a:ext cx="5516575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200400"/>
            <a:ext cx="17373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토스플레이스 CRM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20040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자영업 전반 — 고객관리 우위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3200400"/>
            <a:ext cx="8229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[X]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3200400"/>
            <a:ext cx="853135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[△]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840480"/>
            <a:ext cx="551657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840480"/>
            <a:ext cx="17373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캐시노트 CRM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84048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자영업 전반 — 매출관리 우위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3840480"/>
            <a:ext cx="8229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[X]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3840480"/>
            <a:ext cx="853135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[X]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4480560"/>
            <a:ext cx="5516575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4480560"/>
            <a:ext cx="17373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정육점 SYSTEM 대리점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4480560"/>
            <a:ext cx="19202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정육 내 점유율 우위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4480560"/>
            <a:ext cx="82296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[△]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4480560"/>
            <a:ext cx="853135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C2626"/>
                </a:solidFill>
                <a:latin typeface="Noto Sans KR"/>
                <a:ea typeface="Noto Sans KR"/>
                <a:cs typeface="Noto Sans KR"/>
              </a:rPr>
              <a:t>[X]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* 같은 정육 매장에서 또와 + 토스플레이스/캐시노트/정육점 SYSTEM 공존 가능. 결제·장부·POS는 그들이, 단골·재고·발주 자동화는 또와가.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MARKET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큰 경쟁자도 못 뚫은 정육점 시장.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이 시장이 비어있는 이유 = 우리의 해자.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9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3576218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5603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A84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06040"/>
            <a:ext cx="247893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사실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302757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토스플레이스·캐시노트도 정육점은 못 뚫었다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302757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자영업 전반엔 빠르게 침투했지만, 정육점 사장님은 안 씀.
베타 매장 사장님 전원이 “바꿔본 적 없다” (현장 인터뷰).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7738" y="2286000"/>
            <a:ext cx="3576218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2058" y="25603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A84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2058" y="25603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6418" y="2606040"/>
            <a:ext cx="247893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이유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2058" y="3154680"/>
            <a:ext cx="302757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잘 되면 안 바꾼다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2058" y="3840480"/>
            <a:ext cx="302757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정육점 사장님의 보수적 충성도. 한 번 안착하면 몇 년 그대로.
진입 장벽이 높음 = 들어간 회사에겐 시간을 벌어주는 해자.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6836" y="2286000"/>
            <a:ext cx="3576218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41156" y="25603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A84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1156" y="256032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5516" y="2606040"/>
            <a:ext cx="247893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그래서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1156" y="3154680"/>
            <a:ext cx="3027578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가치 제안이 달라야 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1156" y="3840480"/>
            <a:ext cx="302757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(아래 표 참조)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5780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257800"/>
            <a:ext cx="448056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257800"/>
            <a:ext cx="4602175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대표 카피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경쟁사 접근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62356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POS·매출관리 등 모든 오프라인 매장 대상 다기능 중심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623560"/>
            <a:ext cx="4693615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“만 원 써서 2만 원 버세요” (매출 증가)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solidFill>
            <a:srgbClr val="FFF7F2"/>
          </a:solidFill>
          <a:ln w="63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또와 접근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598932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정육 도메인 비효율 업무를 삭제, 산업 특화 편리함으로 침투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989320"/>
            <a:ext cx="4693615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“만 원 쓰던 거, 오천 원만 써도 그대로” (비용 절감)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또와는 단골관리 + 유통 중개로 양쪽에서 수익을 받는다.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10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7373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73736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정육점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(POS 포함)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103120"/>
            <a:ext cx="1737360" cy="1463040"/>
          </a:xfrm>
          <a:prstGeom prst="roundRect">
            <a:avLst>
              <a:gd name="adj" fmla="val 8000"/>
            </a:avLst>
          </a:prstGeom>
          <a:solidFill>
            <a:srgbClr val="D15127"/>
          </a:solidFill>
          <a:ln w="19050">
            <a:solidFill>
              <a:srgbClr val="A84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103120"/>
            <a:ext cx="173736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또와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㈜위브원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103120"/>
            <a:ext cx="17373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103120"/>
            <a:ext cx="173736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㈜더담우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유통사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103120"/>
            <a:ext cx="17373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103120"/>
            <a:ext cx="173736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단골 소비자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2103120"/>
            <a:ext cx="17373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103120"/>
            <a:ext cx="173736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정육 도매상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(Future)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● 데이터 (POS→또와)   ● 가치 (또와→정육점 자동화 / 도매→정육점 배송)   ● 돈 (정육점→또와 구독+문자 / 더담우↔또와 영업 수수료)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317997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Basic 구독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317997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₩33,000 / 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3179978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ARPU ₩8~12만/월
Gross Margin 75~80%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2978" y="420624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5858" y="4389120"/>
            <a:ext cx="317997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문자 발송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5858" y="4754880"/>
            <a:ext cx="317997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₩33 / 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5858" y="5303520"/>
            <a:ext cx="3179978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매출 효과 +15% (가설)
LTV/CAC 5배+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7316" y="4206240"/>
            <a:ext cx="3545738" cy="182880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0196" y="4389120"/>
            <a:ext cx="317997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유통 매입·중개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0196" y="4754880"/>
            <a:ext cx="3179978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(Future)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196" y="5303520"/>
            <a:ext cx="3179978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마케팅·재고비 −50% (가설)
월 이탈율 3%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파일럿 1매장에서 Zero-Task 워크플로 가동 중.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3515258" cy="146304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515258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약 5만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3515258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누적 거래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103120"/>
            <a:ext cx="3515258" cy="146304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8218" y="2331720"/>
            <a:ext cx="3515258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약 2,100명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8218" y="3017520"/>
            <a:ext cx="3515258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누적 단골 (5회+ 방문)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103120"/>
            <a:ext cx="3515258" cy="146304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2331720"/>
            <a:ext cx="3515258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1매장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3017520"/>
            <a:ext cx="3515258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파일럿 도입 운영 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1094415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457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Noto Sans KR"/>
                <a:ea typeface="Noto Sans KR"/>
                <a:cs typeface="Noto Sans KR"/>
              </a:rPr>
              <a:t>[!] 아직 측정되지 않은 것 — 정직 공개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10545775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·  도입 전/후 매장 매출 차이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·  알림 발송 → 재방문 정량 효과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·  매장별 잔존율·재방문 주기 단축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·  제품 가치 가설 +15% / −50% 실증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1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→ 다음 슬라이드 『Validation To-do』에서 정면으로 다룹니다.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협력사: ㈜더담우 (연 매출 1,000억 정육 유통사)  ·  5개 점포 영업망 협력 합의 (도입 시작 전)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VALIDATION TO-DO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Pre-Seed 5억 = 가설 검증 → PMF → 공헌이익 양수화.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Series A는 그 다음.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2636443" cy="9144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2636443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27068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227068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가설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27068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+0~6m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2270683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Q1 도입 전/후 매장 매출
Q2 알림 → 재방문 전환율
Q3 이탈군 잔존율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074920"/>
            <a:ext cx="2362123" cy="73152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63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074920"/>
            <a:ext cx="2179243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통과 → Stage 2
실패 → 제품 PIVOT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7963" y="2286000"/>
            <a:ext cx="2636443" cy="91440"/>
          </a:xfrm>
          <a:prstGeom prst="rect">
            <a:avLst/>
          </a:prstGeom>
          <a:solidFill>
            <a:srgbClr val="A84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67963" y="2377440"/>
            <a:ext cx="2636443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0843" y="2514600"/>
            <a:ext cx="227068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Stage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0843" y="2880360"/>
            <a:ext cx="227068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PMF 찾기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0843" y="3337560"/>
            <a:ext cx="227068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+6~12m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0843" y="3703320"/>
            <a:ext cx="2270683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Q4 N=30 효과 재현
Q5 유료 전환율
Q6 문자 발송량 분포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05123" y="5074920"/>
            <a:ext cx="2362123" cy="73152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63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6563" y="5074920"/>
            <a:ext cx="2179243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통과 → Stage 3
실패 → 가격·세그먼트
     재설계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2286000"/>
            <a:ext cx="2636443" cy="9144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7287" y="2377440"/>
            <a:ext cx="2636443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0167" y="2514600"/>
            <a:ext cx="227068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32F3E"/>
                </a:solidFill>
                <a:latin typeface="Noto Sans KR"/>
                <a:ea typeface="Noto Sans KR"/>
                <a:cs typeface="Noto Sans KR"/>
              </a:rPr>
              <a:t>Stage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2880360"/>
            <a:ext cx="227068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공헌이익 양수화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3337560"/>
            <a:ext cx="227068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+12~18m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167" y="3703320"/>
            <a:ext cx="2270683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Q7 더담우 영업 효율
Q8 직판 CAC
Q9 POS사 수락율
Q10 실제 ARPU
Q11 이탈율·LTV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4447" y="5074920"/>
            <a:ext cx="2362123" cy="73152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63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5887" y="5074920"/>
            <a:ext cx="2179243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통과 → Series A 도전
실패 → 브릿지 라운드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611" y="2286000"/>
            <a:ext cx="2636443" cy="9144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06611" y="2377440"/>
            <a:ext cx="2636443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491" y="2514600"/>
            <a:ext cx="227068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Stage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491" y="2880360"/>
            <a:ext cx="227068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시장 확장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491" y="3337560"/>
            <a:ext cx="2270683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Series A 이후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491" y="3703320"/>
            <a:ext cx="2270683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Q12 인접 카테고리 PoC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3771" y="5074920"/>
            <a:ext cx="2362123" cy="73152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635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211" y="5074920"/>
            <a:ext cx="2179243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(Pre-Seed 범위 외)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의사결정 게이트  —  +6m: Stage 1 → 베타 가속   ·   +12m: Stage 2 → 유료 GTM   ·   +18m: Stage 3 → Series 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B2B SaaS + AI 박사 + 정육 도메인 — 한 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109155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6017" y="2468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AD9CB"/>
          </a:solidFill>
          <a:ln w="9525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21091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안동철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210915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대표이사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9262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한밭대 컴공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92627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㈜스낵포 CTO 8년
B2B SaaS 0→1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2194560"/>
            <a:ext cx="2109155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2332" y="2468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AD9CB"/>
          </a:solidFill>
          <a:ln w="9525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4955" y="3474720"/>
            <a:ext cx="21091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배현혜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4955" y="3840480"/>
            <a:ext cx="210915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AI·데이터 총괄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6395" y="4206240"/>
            <a:ext cx="19262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Columbia 박사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6395" y="4572000"/>
            <a:ext cx="192627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빅데이터 전임연구원
㈜팬블러 창업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1270" y="2194560"/>
            <a:ext cx="2109155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38647" y="2468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AD9CB"/>
          </a:solidFill>
          <a:ln w="9525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1270" y="3474720"/>
            <a:ext cx="21091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SEO CHARLES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1270" y="3840480"/>
            <a:ext cx="210915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제품·UX 총괄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2710" y="4206240"/>
            <a:ext cx="19262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KAIST 학·석사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2710" y="4572000"/>
            <a:ext cx="192627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㈜팬블러
Co-Founder/PO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7585" y="2194560"/>
            <a:ext cx="2109155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84962" y="2468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AD9CB"/>
          </a:solidFill>
          <a:ln w="9525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7585" y="3474720"/>
            <a:ext cx="21091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이지백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7585" y="3840480"/>
            <a:ext cx="210915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현장·도메인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025" y="4206240"/>
            <a:ext cx="19262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충남대 경영 박사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9025" y="4572000"/>
            <a:ext cx="192627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정육 유통사
사외이사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33900" y="2194560"/>
            <a:ext cx="2109155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31277" y="24688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AD9CB"/>
          </a:solidFill>
          <a:ln w="9525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3900" y="3474720"/>
            <a:ext cx="210915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박동일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3900" y="3840480"/>
            <a:ext cx="210915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운영·재무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5340" y="4206240"/>
            <a:ext cx="19262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한밭대 회계학사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5340" y="4572000"/>
            <a:ext cx="192627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577840"/>
            <a:ext cx="11094415" cy="64008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Founder-Market Fit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4D4D4D"/>
                </a:solidFill>
                <a:latin typeface="Noto Sans KR"/>
                <a:ea typeface="Noto Sans KR"/>
                <a:cs typeface="Noto Sans KR"/>
              </a:rPr>
              <a:t>B2B SaaS 실행력 + AI 박사급 + 정육 도메인 네트워크 — 한 팀 안에 3축 모두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Pre-Seed 5억 + 정부 R&amp;D 7억 / 18개월 — 공헌이익 양수까지 → Series 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14 / 16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548640" y="0"/>
            <a:ext cx="10545775" cy="2834640"/>
          </a:xfrm>
          <a:prstGeom prst="line">
            <a:avLst/>
          </a:prstGeom>
          <a:ln w="31750">
            <a:solidFill>
              <a:srgbClr val="D1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4340" y="2720340"/>
            <a:ext cx="228600" cy="228600"/>
          </a:xfrm>
          <a:prstGeom prst="roundRect">
            <a:avLst>
              <a:gd name="adj" fmla="val 8000"/>
            </a:avLst>
          </a:prstGeom>
          <a:solidFill>
            <a:srgbClr val="A8401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365760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548640" y="30175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파일럿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7943" y="2720340"/>
            <a:ext cx="228600" cy="228600"/>
          </a:xfrm>
          <a:prstGeom prst="roundRect">
            <a:avLst>
              <a:gd name="adj" fmla="val 8000"/>
            </a:avLst>
          </a:prstGeom>
          <a:solidFill>
            <a:srgbClr val="A8401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7843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+6m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4963" y="30175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베타 N=30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7843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Stage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1547" y="2720340"/>
            <a:ext cx="228600" cy="228600"/>
          </a:xfrm>
          <a:prstGeom prst="roundRect">
            <a:avLst>
              <a:gd name="adj" fmla="val 8000"/>
            </a:avLst>
          </a:prstGeom>
          <a:solidFill>
            <a:srgbClr val="A8401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1447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+12m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8567" y="30175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유료 100~150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447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Stage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5151" y="2720340"/>
            <a:ext cx="228600" cy="228600"/>
          </a:xfrm>
          <a:prstGeom prst="roundRect">
            <a:avLst>
              <a:gd name="adj" fmla="val 8000"/>
            </a:avLst>
          </a:prstGeom>
          <a:solidFill>
            <a:srgbClr val="A8401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051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+18m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171" y="30175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Series A 도전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051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Stage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528755" y="2720340"/>
            <a:ext cx="228600" cy="228600"/>
          </a:xfrm>
          <a:prstGeom prst="roundRect">
            <a:avLst>
              <a:gd name="adj" fmla="val 8000"/>
            </a:avLst>
          </a:prstGeom>
          <a:solidFill>
            <a:srgbClr val="A8401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28655" y="228600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이후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45775" y="30175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시장 확장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808080"/>
                </a:solidFill>
                <a:latin typeface="Noto Sans KR"/>
                <a:ea typeface="Noto Sans KR"/>
                <a:cs typeface="Noto Sans KR"/>
              </a:rPr>
              <a:t>Stage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114800"/>
            <a:ext cx="7315200" cy="411480"/>
          </a:xfrm>
          <a:prstGeom prst="roundRect">
            <a:avLst>
              <a:gd name="adj" fmla="val 8000"/>
            </a:avLst>
          </a:prstGeom>
          <a:solidFill>
            <a:srgbClr val="FAD9CB"/>
          </a:solidFill>
          <a:ln w="12700">
            <a:solidFill>
              <a:srgbClr val="D15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14800"/>
            <a:ext cx="69494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Pre-Seed 5억 — 희석 자금, GTM·영업·운영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617720"/>
            <a:ext cx="7315200" cy="411480"/>
          </a:xfrm>
          <a:prstGeom prst="roundRect">
            <a:avLst>
              <a:gd name="adj" fmla="val 8000"/>
            </a:avLst>
          </a:prstGeom>
          <a:solidFill>
            <a:srgbClr val="FFF7F2"/>
          </a:solidFill>
          <a:ln w="12700">
            <a:solidFill>
              <a:srgbClr val="FAD9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17720"/>
            <a:ext cx="69494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정부 R&amp;D 7억 — 비희석, 디딤돌 + TIPS + 후속 (가설)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114800"/>
            <a:ext cx="3504895" cy="9144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 w="9525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114800"/>
            <a:ext cx="350489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Series A →</a:t>
            </a:r>
          </a:p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공헌이익 양수
유료 매장 100~150
LTV/CAC 3~5배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48640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Series A 진입 조건 (+18m 목표)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806440"/>
            <a:ext cx="2127443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806440"/>
            <a:ext cx="2127443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공헌이익 양수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13243" y="5806440"/>
            <a:ext cx="2127443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13243" y="5806440"/>
            <a:ext cx="2127443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유료 매장 100~150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2126" y="5806440"/>
            <a:ext cx="2127443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32126" y="5806440"/>
            <a:ext cx="2127443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LTV/CAC 3~5배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51009" y="5806440"/>
            <a:ext cx="2127443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51009" y="5806440"/>
            <a:ext cx="2127443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월 이탈율 &lt;5%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69892" y="5806440"/>
            <a:ext cx="2127443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69892" y="5806440"/>
            <a:ext cx="2127443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협력 채널 더담우 + POS사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36576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91153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Pre-Seed 5억 + R&amp;D 7억 — 18개월, 공헌이익 양수까지.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410047" cy="1554480"/>
          </a:xfrm>
          <a:prstGeom prst="roundRect">
            <a:avLst>
              <a:gd name="adj" fmla="val 8000"/>
            </a:avLst>
          </a:prstGeom>
          <a:solidFill>
            <a:srgbClr val="D15127"/>
          </a:solidFill>
          <a:ln w="19050">
            <a:solidFill>
              <a:srgbClr val="A84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678527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Pre-Seed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678527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4678527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희석 자금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103120"/>
            <a:ext cx="5410047" cy="155448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 w="9525">
            <a:solidFill>
              <a:srgbClr val="232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2377440"/>
            <a:ext cx="4678527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정부 R&amp;D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2834640"/>
            <a:ext cx="4678527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8767" y="3246120"/>
            <a:ext cx="4678527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비희석 — 디딤돌 2.668억 확보 + TIPS·후속 가설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자금 사용 계획 — 총 12억 통합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11094415" cy="384048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21945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항목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931920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금액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931920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931920"/>
            <a:ext cx="5973775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용도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15968"/>
            <a:ext cx="11094415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15968"/>
            <a:ext cx="21945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인력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315968"/>
            <a:ext cx="12801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5.0억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315968"/>
            <a:ext cx="12801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42%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315968"/>
            <a:ext cx="5973775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영업·운영 + R&amp;D·개발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54296"/>
            <a:ext cx="11094415" cy="338328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54296"/>
            <a:ext cx="21945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마케팅·영업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654296"/>
            <a:ext cx="12801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3.0억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654296"/>
            <a:ext cx="12801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25%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654296"/>
            <a:ext cx="5973775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GTM · 정육 협회 · 바우처 채널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992624"/>
            <a:ext cx="11094415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92624"/>
            <a:ext cx="21945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제품 개발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992624"/>
            <a:ext cx="12801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3.0억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992624"/>
            <a:ext cx="12801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992624"/>
            <a:ext cx="5973775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AI 모델 · POS 연동 · SaaS화 (R&amp;D 자금)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30952"/>
            <a:ext cx="11094415" cy="338328"/>
          </a:xfrm>
          <a:prstGeom prst="rect">
            <a:avLst/>
          </a:prstGeom>
          <a:solidFill>
            <a:srgbClr val="FAFAFA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330952"/>
            <a:ext cx="21945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기타 운영비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330952"/>
            <a:ext cx="12801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1.0억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5330952"/>
            <a:ext cx="12801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5330952"/>
            <a:ext cx="5973775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33333"/>
                </a:solidFill>
                <a:latin typeface="Noto Sans KR"/>
                <a:ea typeface="Noto Sans KR"/>
                <a:cs typeface="Noto Sans KR"/>
              </a:rPr>
              <a:t>사무실 · 법무 · 회계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669280"/>
            <a:ext cx="11094415" cy="338328"/>
          </a:xfrm>
          <a:prstGeom prst="rect">
            <a:avLst/>
          </a:prstGeom>
          <a:solidFill>
            <a:srgbClr val="FFF7F2"/>
          </a:solidFill>
          <a:ln w="635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669280"/>
            <a:ext cx="21945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합계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5669280"/>
            <a:ext cx="12801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12.0억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5669280"/>
            <a:ext cx="1280160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5669280"/>
            <a:ext cx="5973775" cy="3383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18개월 Runway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의사결정 게이트 — +6m: Stage 1 → 베타 가속  ·  +12m: Stage 2 → 유료 GTM  ·  +18m: Stage 3 → Series A 도전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15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15127"/>
                </a:solidFill>
                <a:latin typeface="Noto Sans KR"/>
                <a:ea typeface="Noto Sans KR"/>
                <a:cs typeface="Noto Sans KR"/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3657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기술 발전의 혜택에서 소외된</a:t>
            </a:r>
          </a:p>
          <a:p>
            <a:pPr algn="l">
              <a:lnSpc>
                <a:spcPct val="140000"/>
              </a:lnSpc>
            </a:pPr>
            <a:r>
              <a:rPr sz="3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소상공인의 도메인에 깊숙이 파고들어</a:t>
            </a:r>
          </a:p>
          <a:p>
            <a:pPr algn="l">
              <a:lnSpc>
                <a:spcPct val="140000"/>
              </a:lnSpc>
            </a:pPr>
            <a:r>
              <a:rPr sz="3200" b="1" i="0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기술과의 거리감을 줄이는 비즈니스를</a:t>
            </a:r>
          </a:p>
          <a:p>
            <a:pPr algn="l">
              <a:lnSpc>
                <a:spcPct val="140000"/>
              </a:lnSpc>
            </a:pPr>
            <a:r>
              <a:rPr sz="3200" b="1" i="0">
                <a:solidFill>
                  <a:srgbClr val="A8401E"/>
                </a:solidFill>
                <a:latin typeface="Noto Sans KR"/>
                <a:ea typeface="Noto Sans KR"/>
                <a:cs typeface="Noto Sans KR"/>
              </a:rPr>
              <a:t>하겠습니다.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— 정육점은 그 시작입니다.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14400" y="0"/>
            <a:ext cx="3657600" cy="6126480"/>
          </a:xfrm>
          <a:prstGeom prst="line">
            <a:avLst/>
          </a:prstGeom>
          <a:ln w="19050">
            <a:solidFill>
              <a:srgbClr val="D15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6217920"/>
            <a:ext cx="9144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66666"/>
                </a:solidFill>
                <a:latin typeface="Noto Sans KR"/>
                <a:ea typeface="Noto Sans KR"/>
                <a:cs typeface="Noto Sans KR"/>
              </a:rPr>
              <a:t>㈜위브원  ·  또와  ·  안동철 대표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3B3B3"/>
                </a:solidFill>
                <a:latin typeface="Noto Sans KR"/>
                <a:ea typeface="Noto Sans KR"/>
                <a:cs typeface="Noto Sans KR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